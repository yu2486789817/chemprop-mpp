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560320"/>
            <a:ext cx="8229600" cy="36576"/>
          </a:xfrm>
          <a:prstGeom prst="rect">
            <a:avLst/>
          </a:prstGeom>
          <a:solidFill>
            <a:srgbClr val="E18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Molecular Property Prediction with Chemprop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8346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B9BD5"/>
                </a:solidFill>
              </a:defRPr>
            </a:pPr>
            <a:r>
              <a:t>An AI for Science Approach to Drug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FFFFFF"/>
                </a:solidFill>
              </a:defRPr>
            </a:pPr>
            <a:r>
              <a:t>Graph Neural Networks for Molecular Property Prediction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ESOL Solubility Dataset | Chemprop MPNN | Data Scale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for Science: Why Molecular Property Prediction?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B9BD5"/>
                </a:solidFill>
              </a:defRPr>
            </a:pPr>
            <a:r>
              <a:t>The drug discovery bottleneck — and how AI can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Drug discovery is slow and expensive: ~10 years and $2.6 billion per new drug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 key bottleneck is early-stage screening: millions of molecules, very few tested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Molecular property prediction uses AI to predict properties from structure alone</a:t>
            </a:r>
          </a:p>
          <a:p>
            <a:pPr lvl="1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– No wet lab needed for initial screening</a:t>
            </a:r>
          </a:p>
          <a:p>
            <a:pPr lvl="1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– Prioritize promising candidates before expensive synthesis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Why solubility? It is the first pharmacokinetic hurdle</a:t>
            </a:r>
          </a:p>
          <a:p>
            <a:pPr lvl="1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– If a drug doesn't dissolve, it cannot be absorbed in the gut</a:t>
            </a:r>
          </a:p>
          <a:p>
            <a:pPr lvl="1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– Poor solubility is the #1 cause of late-stage clinical failure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AI for Science principle: Data quality and structure define the boundary of AI scientific reasoning</a:t>
            </a:r>
          </a:p>
          <a:p>
            <a:pPr lvl="1"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  – The model is only as good as the data and molecular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&amp; Method: ESOL Dataset + Chemprop MPNN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B9BD5"/>
                </a:solidFill>
              </a:defRPr>
            </a:pPr>
            <a:r>
              <a:t>Dataset overview and 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A5C"/>
                </a:solidFill>
              </a:defRPr>
            </a:pPr>
            <a:r>
              <a:t>ESOL (Delaney) Dataset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1,128 small organic molecules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Each entry: SMILES string → LogS (aqueous solubility)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LogS = log₁₀(solubility in mol/L)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Range: ~−7 to ~+2 (insoluble → highly soluble)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Widely used benchmark, fast to train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80/20 train/test split (fixed random seed)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A5C"/>
                </a:solidFill>
              </a:defRPr>
            </a:pPr>
            <a:r>
              <a:t>Chemprop MPNN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Message-Passing Neural Network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Molecules as graphs: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– Nodes = atoms (C, N, O, H...)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– Edges = chemical bonds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Message passing: atoms exchange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information through bonds over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multiple steps (depth = 5)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Readout: aggregate atom features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  → predict molecular property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PyTorch-based, modular design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Chemprop v2: improved efficiency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27432" cy="41148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Experiment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B9BD5"/>
                </a:solidFill>
              </a:defRPr>
            </a:pPr>
            <a:r>
              <a:t>Baseline training + data scale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Experiment 1: Baseline Model Training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Train Chemprop MPNN on full ESOL dataset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Architecture: hidden=300, depth=5, dropout=0.1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Training: Adam optimizer, ReduceLROnPlateau, early stopping (patience=15)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Evaluation metrics: RMSE, MAE, R²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Experiment 2: Data Scale Analysis (Core Contribution)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Question: How does model performance improve with more data?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Train on 20%, 50%, 80%, 100% of training data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Fixed test set for fair comparison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3 random repeats per scale → error bars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Key Design Choices: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Fixed test set across all experiments (same random seed = 42)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MPNN treats each molecule independently — no data leakage</a:t>
            </a:r>
          </a:p>
          <a:p>
            <a:pPr lvl="1"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– Regression task (continuous LogS values)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Results: Prediction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B9BD5"/>
                </a:solidFill>
              </a:defRPr>
            </a:pPr>
            <a:r>
              <a:t>Chemprop MPNN accurately predicts aqueous solubility</a:t>
            </a:r>
          </a:p>
        </p:txBody>
      </p:sp>
      <p:pic>
        <p:nvPicPr>
          <p:cNvPr id="5" name="Picture 4" descr="predicted_vs_tr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303520" cy="4456079"/>
          </a:xfrm>
          <a:prstGeom prst="rect">
            <a:avLst/>
          </a:prstGeom>
        </p:spPr>
      </p:pic>
      <p:pic>
        <p:nvPicPr>
          <p:cNvPr id="6" name="Picture 5" descr="erro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303520" cy="33650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Left: Predicted vs measured LogS (hexbin density plot). Right: Error distribution with normal 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Results: Impact of Training Data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B9BD5"/>
                </a:solidFill>
              </a:defRPr>
            </a:pPr>
            <a:r>
              <a:t>More data → better predictions (with diminishing returns)</a:t>
            </a:r>
          </a:p>
        </p:txBody>
      </p:sp>
      <p:pic>
        <p:nvPicPr>
          <p:cNvPr id="5" name="Picture 4" descr="data_scale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058400" cy="43495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5486400"/>
            <a:ext cx="10332720" cy="7315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1B3A5C"/>
                </a:solidFill>
              </a:defRPr>
            </a:pPr>
            <a:r>
              <a:t>Key Insight: Model performance improves dramatically from 20%→80% data, with diminishing returns at 100%. This validates the AI for Science principle: data quality and quantity define the upper bound of what models can learn.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Conclusions: AI + Molecular Science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417320"/>
            <a:ext cx="2743200" cy="36576"/>
          </a:xfrm>
          <a:prstGeom prst="rect">
            <a:avLst/>
          </a:prstGeom>
          <a:solidFill>
            <a:srgbClr val="E18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E18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7830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Graph Neural Networks are a natural fit for molecular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2402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9BD5"/>
                </a:solidFill>
              </a:defRPr>
            </a:pPr>
            <a:r>
              <a:t>Molecules are graphs — atoms as nodes, bonds as edges. MPNNs learn from this structure directly, without hand-crafted features.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E18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718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Solubility prediction is practical and impactful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4290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9BD5"/>
                </a:solidFill>
              </a:defRPr>
            </a:pPr>
            <a:r>
              <a:t>Aqueous solubility is the first hurdle for oral drugs. AI screening can prioritize synthesizable candidates early.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E18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6052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Data scale drives model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6177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9BD5"/>
                </a:solidFill>
              </a:defRPr>
            </a:pPr>
            <a:r>
              <a:t>Our experiments show RMSE improves substantially with more training data — validating the AI for Science approach.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394960"/>
            <a:ext cx="457200" cy="457200"/>
          </a:xfrm>
          <a:prstGeom prst="ellipse">
            <a:avLst/>
          </a:prstGeom>
          <a:solidFill>
            <a:srgbClr val="E18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3492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Chemprop lowers the barrier to 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80644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9BD5"/>
                </a:solidFill>
              </a:defRPr>
            </a:pPr>
            <a:r>
              <a:t>Modular, well-documented, PyTorch-based. A few hundred lines of code is enough for a complete molecular ML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